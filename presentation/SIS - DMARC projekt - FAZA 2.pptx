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  <p:sldMasterId id="2147483672" r:id="rId3"/>
  </p:sldMasterIdLst>
  <p:notesMasterIdLst>
    <p:notesMasterId r:id="rId29"/>
  </p:notesMasterIdLst>
  <p:sldIdLst>
    <p:sldId id="256" r:id="rId4"/>
    <p:sldId id="27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80" r:id="rId16"/>
    <p:sldId id="281" r:id="rId17"/>
    <p:sldId id="270" r:id="rId18"/>
    <p:sldId id="271" r:id="rId19"/>
    <p:sldId id="272" r:id="rId20"/>
    <p:sldId id="273" r:id="rId21"/>
    <p:sldId id="274" r:id="rId22"/>
    <p:sldId id="275" r:id="rId23"/>
    <p:sldId id="282" r:id="rId24"/>
    <p:sldId id="284" r:id="rId25"/>
    <p:sldId id="285" r:id="rId26"/>
    <p:sldId id="278" r:id="rId27"/>
    <p:sldId id="286" r:id="rId28"/>
  </p:sldIdLst>
  <p:sldSz cx="12192000" cy="6858000"/>
  <p:notesSz cx="6858000" cy="9144000"/>
  <p:embeddedFontLst>
    <p:embeddedFont>
      <p:font typeface="Play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font" Target="fonts/font1.fntdata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66de9a417_2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66de9a417_2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b66de9a417_2_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b62c577a9d_4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b62c577a9d_4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g3b62c577a9d_4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66de9a417_2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b66de9a417_2_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b66de9a417_2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62c577a9d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62c577a9d_4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b62c577a9d_4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62c577a9d_4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62c577a9d_4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3b62c577a9d_4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66de9a417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b66de9a417_2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b66de9a417_2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66de9a417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b66de9a417_2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b66de9a417_2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b66de9a417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b66de9a417_2_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3b66de9a417_2_1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b62c577a9d_4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b62c577a9d_4_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g3b62c577a9d_4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66de9a417_2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b66de9a417_2_1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3b66de9a417_2_1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058514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67511b64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b67511b64f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g3b67511b64f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b67511b64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b67511b64f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g3b67511b64f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b67511b64f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b67511b64f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g3b67511b64f_0_2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b62c577a9d_4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b62c577a9d_4_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g3b62c577a9d_4_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67511b64f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b67511b64f_0_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g3b67511b64f_0_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b67511b64f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b67511b64f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g3b67511b64f_0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D9058-72EA-F4A0-6BCD-E248F084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74A89F76-C3F0-5F5A-F0A9-333D348FFD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AFED7D97-D897-5A3B-F49D-2BBD2E51E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6BA97D9E-339C-08AF-6EC6-047B5BF039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08971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7F7F5-3597-19BE-35E1-F770FAB1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>
            <a:extLst>
              <a:ext uri="{FF2B5EF4-FFF2-40B4-BE49-F238E27FC236}">
                <a16:creationId xmlns:a16="http://schemas.microsoft.com/office/drawing/2014/main" id="{A460C6E2-B500-29CD-6D5D-A01489AEB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>
            <a:extLst>
              <a:ext uri="{FF2B5EF4-FFF2-40B4-BE49-F238E27FC236}">
                <a16:creationId xmlns:a16="http://schemas.microsoft.com/office/drawing/2014/main" id="{D8CC44FC-8785-EE38-192A-803DD36044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265A5800-F68B-72C6-8DC8-8F7CA31315E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70233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sz="2667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267"/>
              </a:spcBef>
              <a:spcAft>
                <a:spcPts val="0"/>
              </a:spcAft>
              <a:buClr>
                <a:srgbClr val="888888"/>
              </a:buClr>
              <a:buSzPts val="1333"/>
              <a:buNone/>
              <a:defRPr sz="1333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13"/>
              </a:spcBef>
              <a:spcAft>
                <a:spcPts val="0"/>
              </a:spcAft>
              <a:buClr>
                <a:srgbClr val="888888"/>
              </a:buClr>
              <a:buSzPts val="1067"/>
              <a:buNone/>
              <a:defRPr sz="1067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87"/>
              </a:spcBef>
              <a:spcAft>
                <a:spcPts val="0"/>
              </a:spcAft>
              <a:buClr>
                <a:srgbClr val="888888"/>
              </a:buClr>
              <a:buSzPts val="933"/>
              <a:buNone/>
              <a:defRPr sz="933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715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3098800" y="1066800"/>
            <a:ext cx="2692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715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•"/>
              <a:defRPr sz="1867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2pPr>
            <a:lvl3pPr marL="1371600" lvl="2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1pPr>
            <a:lvl2pPr marL="914400" lvl="1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 b="1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4pPr>
            <a:lvl5pPr marL="2286000" lvl="4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5pPr>
            <a:lvl6pPr marL="2743200" lvl="5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6pPr>
            <a:lvl7pPr marL="3200400" lvl="6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7pPr>
            <a:lvl8pPr marL="3657600" lvl="7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8pPr>
            <a:lvl9pPr marL="4114800" lvl="8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304800" y="1449917"/>
            <a:ext cx="2693459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–"/>
              <a:defRPr sz="1067"/>
            </a:lvl4pPr>
            <a:lvl5pPr marL="2286000" lvl="4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»"/>
              <a:defRPr sz="1067"/>
            </a:lvl5pPr>
            <a:lvl6pPr marL="2743200" lvl="5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6pPr>
            <a:lvl7pPr marL="3200400" lvl="6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7pPr>
            <a:lvl8pPr marL="3657600" lvl="7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8pPr>
            <a:lvl9pPr marL="4114800" lvl="8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3096684" y="1023409"/>
            <a:ext cx="2694517" cy="426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1pPr>
            <a:lvl2pPr marL="914400" lvl="1" indent="-228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 b="1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4pPr>
            <a:lvl5pPr marL="2286000" lvl="4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5pPr>
            <a:lvl6pPr marL="2743200" lvl="5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6pPr>
            <a:lvl7pPr marL="3200400" lvl="6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7pPr>
            <a:lvl8pPr marL="3657600" lvl="7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8pPr>
            <a:lvl9pPr marL="4114800" lvl="8" indent="-228600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None/>
              <a:defRPr sz="1067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3096684" y="1449917"/>
            <a:ext cx="2694517" cy="263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–"/>
              <a:defRPr sz="1067"/>
            </a:lvl4pPr>
            <a:lvl5pPr marL="2286000" lvl="4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»"/>
              <a:defRPr sz="1067"/>
            </a:lvl5pPr>
            <a:lvl6pPr marL="2743200" lvl="5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6pPr>
            <a:lvl7pPr marL="3200400" lvl="6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7pPr>
            <a:lvl8pPr marL="3657600" lvl="7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8pPr>
            <a:lvl9pPr marL="4114800" lvl="8" indent="-296354" algn="l">
              <a:spcBef>
                <a:spcPts val="213"/>
              </a:spcBef>
              <a:spcAft>
                <a:spcPts val="0"/>
              </a:spcAft>
              <a:buClr>
                <a:schemeClr val="dk1"/>
              </a:buClr>
              <a:buSzPts val="1067"/>
              <a:buChar char="•"/>
              <a:defRPr sz="1067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2383367" y="182034"/>
            <a:ext cx="3407833" cy="390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4045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1pPr>
            <a:lvl2pPr marL="914400" lvl="1" indent="-347154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Char char="–"/>
              <a:defRPr sz="1867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–"/>
              <a:defRPr sz="1333"/>
            </a:lvl4pPr>
            <a:lvl5pPr marL="2286000" lvl="4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»"/>
              <a:defRPr sz="1333"/>
            </a:lvl5pPr>
            <a:lvl6pPr marL="2743200" lvl="5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6pPr>
            <a:lvl7pPr marL="3200400" lvl="6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7pPr>
            <a:lvl8pPr marL="3657600" lvl="7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8pPr>
            <a:lvl9pPr marL="4114800" lvl="8" indent="-313245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Char char="•"/>
              <a:defRPr sz="1333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304800" y="956734"/>
            <a:ext cx="2005542" cy="3127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1pPr>
            <a:lvl2pPr marL="914400" lvl="1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marL="1371600" lvl="2" indent="-22860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None/>
              <a:defRPr sz="667"/>
            </a:lvl3pPr>
            <a:lvl4pPr marL="1828800" lvl="3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marL="2286000" lvl="4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marL="2743200" lvl="5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marL="3200400" lvl="6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marL="3657600" lvl="7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marL="4114800" lvl="8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Calibri"/>
              <a:buNone/>
              <a:defRPr sz="1333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194859" y="408517"/>
            <a:ext cx="3657600" cy="27432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194859" y="3578225"/>
            <a:ext cx="3657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87"/>
              </a:spcBef>
              <a:spcAft>
                <a:spcPts val="0"/>
              </a:spcAft>
              <a:buClr>
                <a:schemeClr val="dk1"/>
              </a:buClr>
              <a:buSzPts val="933"/>
              <a:buNone/>
              <a:defRPr sz="933"/>
            </a:lvl1pPr>
            <a:lvl2pPr marL="914400" lvl="1" indent="-22860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marL="1371600" lvl="2" indent="-228600" algn="l">
              <a:spcBef>
                <a:spcPts val="133"/>
              </a:spcBef>
              <a:spcAft>
                <a:spcPts val="0"/>
              </a:spcAft>
              <a:buClr>
                <a:schemeClr val="dk1"/>
              </a:buClr>
              <a:buSzPts val="667"/>
              <a:buNone/>
              <a:defRPr sz="667"/>
            </a:lvl3pPr>
            <a:lvl4pPr marL="1828800" lvl="3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4pPr>
            <a:lvl5pPr marL="2286000" lvl="4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5pPr>
            <a:lvl6pPr marL="2743200" lvl="5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6pPr>
            <a:lvl7pPr marL="3200400" lvl="6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7pPr>
            <a:lvl8pPr marL="3657600" lvl="7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8pPr>
            <a:lvl9pPr marL="4114800" lvl="8" indent="-228600" algn="l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1539346" y="-167746"/>
            <a:ext cx="3017309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3154892" y="1447800"/>
            <a:ext cx="3901017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360892" y="127000"/>
            <a:ext cx="3901017" cy="40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A516074-3BC7-090E-E084-15CFD11EA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81957544-6707-8D1C-EF37-EE19138DA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059E243B-AA2E-DB89-89D8-BC9AAB4B0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04D6C-A3F1-4F01-BF2F-5E486C08C63B}" type="datetimeFigureOut">
              <a:rPr lang="hr-HR" smtClean="0"/>
              <a:t>13.1.2026.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C247F842-5B82-CC04-5735-800100E4E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E8ECAF44-3B54-D921-2979-43552F43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0265-5215-43A1-9A7B-4CF55A20CEB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439889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732B88A-2E00-5025-DC72-08EE639E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C67B0E3-10DE-5CA9-87BC-F6298E891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0EEE39B8-A4BF-7478-3FD2-DA78591D2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04D6C-A3F1-4F01-BF2F-5E486C08C63B}" type="datetimeFigureOut">
              <a:rPr lang="hr-HR" smtClean="0"/>
              <a:t>13.1.2026.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1B2B515E-3BA9-C454-9494-38000FDA1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DCCC6ABC-D689-9D86-447C-424861F15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0265-5215-43A1-9A7B-4CF55A20CEB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719087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6C35B05-0681-DE6C-880B-584C96135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9ABE0311-04D2-DE17-7534-2C007A2D7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B10CDE94-955A-D4F8-128E-C0125C761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04D6C-A3F1-4F01-BF2F-5E486C08C63B}" type="datetimeFigureOut">
              <a:rPr lang="hr-HR" smtClean="0"/>
              <a:t>13.1.2026.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00663611-2FC0-C8AE-FCA2-4DC390480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B08D9B4B-A730-CB10-CBBE-CE32D8520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0265-5215-43A1-9A7B-4CF55A20CEB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832034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CDA5A4A-7810-594A-6FC4-4069C1B94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3F1999AA-F2D4-9556-6427-F528FBA15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087D82FE-E125-941A-C43A-636294D3A4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A853429D-50EB-1760-6DE5-F38C106C2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04D6C-A3F1-4F01-BF2F-5E486C08C63B}" type="datetimeFigureOut">
              <a:rPr lang="hr-HR" smtClean="0"/>
              <a:t>13.1.2026.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6407B242-7B7F-B1F5-7FB3-C1D0DE632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7C791FF9-FF8E-E8EF-9790-8FD0AC729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0265-5215-43A1-9A7B-4CF55A20CEB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198444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3143DD0-376F-0289-088C-063389346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2D952273-8A92-FC64-8C5B-E89909A8B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E9981A29-6AE6-2A9A-6A47-B81D4A262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teksta 4">
            <a:extLst>
              <a:ext uri="{FF2B5EF4-FFF2-40B4-BE49-F238E27FC236}">
                <a16:creationId xmlns:a16="http://schemas.microsoft.com/office/drawing/2014/main" id="{52FC5F76-45C1-E904-36C5-A2E98B933F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FECEA5B3-CE50-7C0B-1F43-9818D9EE3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7" name="Rezervirano mjesto datuma 6">
            <a:extLst>
              <a:ext uri="{FF2B5EF4-FFF2-40B4-BE49-F238E27FC236}">
                <a16:creationId xmlns:a16="http://schemas.microsoft.com/office/drawing/2014/main" id="{30BBB030-096E-62BE-20C5-396ED7B3B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04D6C-A3F1-4F01-BF2F-5E486C08C63B}" type="datetimeFigureOut">
              <a:rPr lang="hr-HR" smtClean="0"/>
              <a:t>13.1.2026.</a:t>
            </a:fld>
            <a:endParaRPr lang="hr-HR"/>
          </a:p>
        </p:txBody>
      </p:sp>
      <p:sp>
        <p:nvSpPr>
          <p:cNvPr id="8" name="Rezervirano mjesto podnožja 7">
            <a:extLst>
              <a:ext uri="{FF2B5EF4-FFF2-40B4-BE49-F238E27FC236}">
                <a16:creationId xmlns:a16="http://schemas.microsoft.com/office/drawing/2014/main" id="{E7F1B4B1-5417-FBC5-F382-AA359A3E9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>
            <a:extLst>
              <a:ext uri="{FF2B5EF4-FFF2-40B4-BE49-F238E27FC236}">
                <a16:creationId xmlns:a16="http://schemas.microsoft.com/office/drawing/2014/main" id="{142DA179-92A9-5595-3046-FCDCD1B4A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0265-5215-43A1-9A7B-4CF55A20CEB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67339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5E317D7-1AFC-30CF-DC12-667A3823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202D27BA-F140-1E69-82EC-8848FD696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04D6C-A3F1-4F01-BF2F-5E486C08C63B}" type="datetimeFigureOut">
              <a:rPr lang="hr-HR" smtClean="0"/>
              <a:t>13.1.2026.</a:t>
            </a:fld>
            <a:endParaRPr lang="hr-HR"/>
          </a:p>
        </p:txBody>
      </p:sp>
      <p:sp>
        <p:nvSpPr>
          <p:cNvPr id="4" name="Rezervirano mjesto podnožja 3">
            <a:extLst>
              <a:ext uri="{FF2B5EF4-FFF2-40B4-BE49-F238E27FC236}">
                <a16:creationId xmlns:a16="http://schemas.microsoft.com/office/drawing/2014/main" id="{FE8CFC37-8B3F-C36D-D930-BA07B52C4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F763539C-9A05-95DB-5EC8-4C2F15403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0265-5215-43A1-9A7B-4CF55A20CEB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83867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04049A79-3470-B2C4-6803-85668F975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04D6C-A3F1-4F01-BF2F-5E486C08C63B}" type="datetimeFigureOut">
              <a:rPr lang="hr-HR" smtClean="0"/>
              <a:t>13.1.2026.</a:t>
            </a:fld>
            <a:endParaRPr lang="hr-HR"/>
          </a:p>
        </p:txBody>
      </p:sp>
      <p:sp>
        <p:nvSpPr>
          <p:cNvPr id="3" name="Rezervirano mjesto podnožja 2">
            <a:extLst>
              <a:ext uri="{FF2B5EF4-FFF2-40B4-BE49-F238E27FC236}">
                <a16:creationId xmlns:a16="http://schemas.microsoft.com/office/drawing/2014/main" id="{97C3E121-CBA9-D89B-C72D-FA88E3E2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0AF98921-F62B-1AF3-39E3-BF71E01F1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0265-5215-43A1-9A7B-4CF55A20CEB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035391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2EB787C-4691-F76C-F99D-1F802B96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4D39149C-5681-A69C-FD08-C2CCDA419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FE9A5EC0-1A0E-13E0-0036-7F9647DF95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64B47123-2604-E242-57BA-162A8418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04D6C-A3F1-4F01-BF2F-5E486C08C63B}" type="datetimeFigureOut">
              <a:rPr lang="hr-HR" smtClean="0"/>
              <a:t>13.1.2026.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5B235C31-1BD8-35D5-1C37-C180B1898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7D5A4504-5CA2-ECC9-B6E8-47770A4B0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0265-5215-43A1-9A7B-4CF55A20CEB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93559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063D155-BEA6-3F0A-44F8-A686C078A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like 2">
            <a:extLst>
              <a:ext uri="{FF2B5EF4-FFF2-40B4-BE49-F238E27FC236}">
                <a16:creationId xmlns:a16="http://schemas.microsoft.com/office/drawing/2014/main" id="{064ACB42-DEAE-D08F-55B8-EEB7DB250F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2CE1ADDC-A5CF-67C8-A2C4-5C285DCFB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C570A8A4-BE7D-22CB-DE79-1AB4B9D53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04D6C-A3F1-4F01-BF2F-5E486C08C63B}" type="datetimeFigureOut">
              <a:rPr lang="hr-HR" smtClean="0"/>
              <a:t>13.1.2026.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443A34E0-F929-1387-DBD5-ED26D1CAD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73141590-362C-BB82-328C-47B96616E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0265-5215-43A1-9A7B-4CF55A20CEB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7282423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914D944-1319-6E8C-4295-355153CC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4A2E8232-AA42-D75B-F9BC-3D3F61C8A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22D617E1-D6C8-8A38-C0D2-C761601A3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04D6C-A3F1-4F01-BF2F-5E486C08C63B}" type="datetimeFigureOut">
              <a:rPr lang="hr-HR" smtClean="0"/>
              <a:t>13.1.2026.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7F04625A-560B-81DD-968C-09BCBFC4B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25ADEBB0-FD95-62CB-AFF3-12F3B7B9B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0265-5215-43A1-9A7B-4CF55A20CEB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445073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>
            <a:extLst>
              <a:ext uri="{FF2B5EF4-FFF2-40B4-BE49-F238E27FC236}">
                <a16:creationId xmlns:a16="http://schemas.microsoft.com/office/drawing/2014/main" id="{07D7E409-AF1D-AA16-E069-56140B8283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8AE7AB13-A386-3CCA-B497-0EC925214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B9FFCCF2-3AFA-85BA-8692-3FD1193F3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04D6C-A3F1-4F01-BF2F-5E486C08C63B}" type="datetimeFigureOut">
              <a:rPr lang="hr-HR" smtClean="0"/>
              <a:t>13.1.2026.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F0DB12FD-4B47-A882-D946-B264DD564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C5C3D2E4-2F44-BDA1-8510-3CE6F2FB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E90265-5215-43A1-9A7B-4CF55A20CEB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8633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33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4045" algn="l" rtl="0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7154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Char char="–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–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»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3245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Char char="•"/>
              <a:defRPr sz="13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64E6F19C-6E7D-A12D-B14F-D870BC854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E2F58F98-7281-4B90-6887-9A4432EF1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7B0798D8-403B-FB94-EB3E-DA4CAF2C4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804D6C-A3F1-4F01-BF2F-5E486C08C63B}" type="datetimeFigureOut">
              <a:rPr lang="hr-HR" smtClean="0"/>
              <a:t>13.1.2026.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A761FE50-53EB-AE2D-FA6E-D426CD9B0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96E63E2A-BB4A-6368-4A0D-3FBDEECD4F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90265-5215-43A1-9A7B-4CF55A20CEB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59256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marcian.com/what-is-a-dmarc-record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microsoft.com/office/2007/relationships/hdphoto" Target="../media/hdphoto2.wdp"/><Relationship Id="rId5" Type="http://schemas.openxmlformats.org/officeDocument/2006/relationships/image" Target="../media/image41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/>
        </p:nvSpPr>
        <p:spPr>
          <a:xfrm>
            <a:off x="377144" y="1410086"/>
            <a:ext cx="4998814" cy="4998814"/>
          </a:xfrm>
          <a:custGeom>
            <a:avLst/>
            <a:gdLst/>
            <a:ahLst/>
            <a:cxnLst/>
            <a:rect l="l" t="t" r="r" b="b"/>
            <a:pathLst>
              <a:path w="7498221" h="7498221" extrusionOk="0">
                <a:moveTo>
                  <a:pt x="0" y="0"/>
                </a:moveTo>
                <a:lnTo>
                  <a:pt x="7498220" y="0"/>
                </a:lnTo>
                <a:lnTo>
                  <a:pt x="7498220" y="7498221"/>
                </a:lnTo>
                <a:lnTo>
                  <a:pt x="0" y="7498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5"/>
          <p:cNvSpPr/>
          <p:nvPr/>
        </p:nvSpPr>
        <p:spPr>
          <a:xfrm>
            <a:off x="685800" y="1351470"/>
            <a:ext cx="4381500" cy="4155061"/>
          </a:xfrm>
          <a:custGeom>
            <a:avLst/>
            <a:gdLst/>
            <a:ahLst/>
            <a:cxnLst/>
            <a:rect l="l" t="t" r="r" b="b"/>
            <a:pathLst>
              <a:path w="6572250" h="6232592" extrusionOk="0">
                <a:moveTo>
                  <a:pt x="0" y="0"/>
                </a:moveTo>
                <a:lnTo>
                  <a:pt x="6572250" y="0"/>
                </a:lnTo>
                <a:lnTo>
                  <a:pt x="6572250" y="6232592"/>
                </a:lnTo>
                <a:lnTo>
                  <a:pt x="0" y="6232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5" name="Google Shape;165;p25"/>
          <p:cNvGrpSpPr/>
          <p:nvPr/>
        </p:nvGrpSpPr>
        <p:grpSpPr>
          <a:xfrm>
            <a:off x="5536825" y="5235269"/>
            <a:ext cx="1728224" cy="559916"/>
            <a:chOff x="0" y="-28575"/>
            <a:chExt cx="682755" cy="221202"/>
          </a:xfrm>
        </p:grpSpPr>
        <p:sp>
          <p:nvSpPr>
            <p:cNvPr id="166" name="Google Shape;166;p25"/>
            <p:cNvSpPr/>
            <p:nvPr/>
          </p:nvSpPr>
          <p:spPr>
            <a:xfrm>
              <a:off x="0" y="0"/>
              <a:ext cx="682755" cy="192627"/>
            </a:xfrm>
            <a:custGeom>
              <a:avLst/>
              <a:gdLst/>
              <a:ahLst/>
              <a:cxnLst/>
              <a:rect l="l" t="t" r="r" b="b"/>
              <a:pathLst>
                <a:path w="682755" h="192627" extrusionOk="0">
                  <a:moveTo>
                    <a:pt x="96313" y="0"/>
                  </a:moveTo>
                  <a:lnTo>
                    <a:pt x="586442" y="0"/>
                  </a:lnTo>
                  <a:cubicBezTo>
                    <a:pt x="639634" y="0"/>
                    <a:pt x="682755" y="43121"/>
                    <a:pt x="682755" y="96313"/>
                  </a:cubicBezTo>
                  <a:lnTo>
                    <a:pt x="682755" y="96313"/>
                  </a:lnTo>
                  <a:cubicBezTo>
                    <a:pt x="682755" y="149506"/>
                    <a:pt x="639634" y="192627"/>
                    <a:pt x="586442" y="192627"/>
                  </a:cubicBezTo>
                  <a:lnTo>
                    <a:pt x="96313" y="192627"/>
                  </a:lnTo>
                  <a:cubicBezTo>
                    <a:pt x="43121" y="192627"/>
                    <a:pt x="0" y="149506"/>
                    <a:pt x="0" y="96313"/>
                  </a:cubicBezTo>
                  <a:lnTo>
                    <a:pt x="0" y="96313"/>
                  </a:lnTo>
                  <a:cubicBezTo>
                    <a:pt x="0" y="43121"/>
                    <a:pt x="43121" y="0"/>
                    <a:pt x="96313" y="0"/>
                  </a:cubicBezTo>
                  <a:close/>
                </a:path>
              </a:pathLst>
            </a:custGeom>
            <a:solidFill>
              <a:srgbClr val="71AEFF"/>
            </a:solidFill>
            <a:ln w="19050" cap="rnd" cmpd="sng">
              <a:solidFill>
                <a:srgbClr val="0111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25"/>
            <p:cNvSpPr txBox="1"/>
            <p:nvPr/>
          </p:nvSpPr>
          <p:spPr>
            <a:xfrm>
              <a:off x="0" y="-28575"/>
              <a:ext cx="682755" cy="2212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50" tIns="33850" rIns="33850" bIns="33850" anchor="ctr" anchorCtr="0">
              <a:noAutofit/>
            </a:bodyPr>
            <a:lstStyle/>
            <a:p>
              <a:pPr marL="0" marR="0" lvl="0" indent="0" algn="ctr" rtl="0">
                <a:lnSpc>
                  <a:spcPct val="14004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66">
                  <a:solidFill>
                    <a:srgbClr val="011142"/>
                  </a:solidFill>
                  <a:latin typeface="Arial"/>
                  <a:ea typeface="Arial"/>
                  <a:cs typeface="Arial"/>
                  <a:sym typeface="Arial"/>
                </a:rPr>
                <a:t>Learn More</a:t>
              </a:r>
              <a:endParaRPr/>
            </a:p>
          </p:txBody>
        </p:sp>
      </p:grpSp>
      <p:sp>
        <p:nvSpPr>
          <p:cNvPr id="168" name="Google Shape;168;p25"/>
          <p:cNvSpPr/>
          <p:nvPr/>
        </p:nvSpPr>
        <p:spPr>
          <a:xfrm flipH="1">
            <a:off x="9067800" y="5817524"/>
            <a:ext cx="4876800" cy="709353"/>
          </a:xfrm>
          <a:custGeom>
            <a:avLst/>
            <a:gdLst/>
            <a:ahLst/>
            <a:cxnLst/>
            <a:rect l="l" t="t" r="r" b="b"/>
            <a:pathLst>
              <a:path w="7315200" h="1064029" extrusionOk="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5536825" y="2173606"/>
            <a:ext cx="66551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rgbClr val="011142"/>
                </a:solidFill>
                <a:latin typeface="Arial"/>
                <a:ea typeface="Arial"/>
                <a:cs typeface="Arial"/>
                <a:sym typeface="Arial"/>
              </a:rPr>
              <a:t>(Domain-Based Message Authentication, Reporting &amp; Conformance)</a:t>
            </a:r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5536825" y="1455458"/>
            <a:ext cx="6440810" cy="64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6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11142"/>
                </a:solidFill>
                <a:latin typeface="Arial"/>
                <a:ea typeface="Arial"/>
                <a:cs typeface="Arial"/>
                <a:sym typeface="Arial"/>
              </a:rPr>
              <a:t>Implementacija DMARC-a </a:t>
            </a:r>
            <a:endParaRPr/>
          </a:p>
        </p:txBody>
      </p:sp>
      <p:sp>
        <p:nvSpPr>
          <p:cNvPr id="171" name="Google Shape;171;p25"/>
          <p:cNvSpPr txBox="1"/>
          <p:nvPr/>
        </p:nvSpPr>
        <p:spPr>
          <a:xfrm>
            <a:off x="5536825" y="4267866"/>
            <a:ext cx="644081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Mentor: 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Izv. prof. dr. sc. Igor Tomičić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Tim17: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Ennio David Komljenović, Marko Mencl, Filip Novak, Paula Zadravec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5"/>
          <p:cNvSpPr/>
          <p:nvPr/>
        </p:nvSpPr>
        <p:spPr>
          <a:xfrm flipH="1">
            <a:off x="-1071563" y="220240"/>
            <a:ext cx="4876800" cy="709353"/>
          </a:xfrm>
          <a:custGeom>
            <a:avLst/>
            <a:gdLst/>
            <a:ahLst/>
            <a:cxnLst/>
            <a:rect l="l" t="t" r="r" b="b"/>
            <a:pathLst>
              <a:path w="7315200" h="1064029" extrusionOk="0">
                <a:moveTo>
                  <a:pt x="7315200" y="0"/>
                </a:moveTo>
                <a:lnTo>
                  <a:pt x="0" y="0"/>
                </a:lnTo>
                <a:lnTo>
                  <a:pt x="0" y="1064030"/>
                </a:lnTo>
                <a:lnTo>
                  <a:pt x="7315200" y="1064030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365591" y="189971"/>
            <a:ext cx="346081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Sigurnost informacijskih sustava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B83E465D-C1F3-3DC4-4DAD-773CE691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Praktičan</a:t>
            </a:r>
            <a:r>
              <a:rPr lang="en-US" sz="4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4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dio</a:t>
            </a:r>
            <a:endParaRPr lang="hr-HR" sz="48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DC7A431-C3E2-71DA-2903-4CC73206E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474155" lvl="1" indent="-457200">
              <a:buClr>
                <a:schemeClr val="dk1"/>
              </a:buClr>
              <a:buSzPts val="3333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Postavljanje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mail server</a:t>
            </a:r>
            <a:r>
              <a:rPr lang="hr-H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okruženja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7154">
              <a:buClr>
                <a:schemeClr val="dk1"/>
              </a:buClr>
              <a:buSzPts val="1867"/>
              <a:buFont typeface="Arial"/>
              <a:buChar char="○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SPF, DKIM, DMARC</a:t>
            </a:r>
          </a:p>
          <a:p>
            <a:pPr marL="474155" lvl="1" indent="-457200">
              <a:lnSpc>
                <a:spcPct val="150000"/>
              </a:lnSpc>
              <a:buClr>
                <a:schemeClr val="dk1"/>
              </a:buClr>
              <a:buSzPts val="3333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skripta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za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napade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74155" lvl="1" indent="-457200">
              <a:lnSpc>
                <a:spcPct val="150000"/>
              </a:lnSpc>
              <a:buClr>
                <a:schemeClr val="dk1"/>
              </a:buClr>
              <a:buSzPts val="3333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Načini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povećanja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sigurnosti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74155" lvl="1" indent="-457200">
              <a:lnSpc>
                <a:spcPct val="150000"/>
              </a:lnSpc>
              <a:buClr>
                <a:schemeClr val="dk1"/>
              </a:buClr>
              <a:buSzPts val="3333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 DMARC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izvještaja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lang="hr-HR" sz="2400" dirty="0"/>
          </a:p>
        </p:txBody>
      </p:sp>
      <p:pic>
        <p:nvPicPr>
          <p:cNvPr id="4" name="Slika 1">
            <a:extLst>
              <a:ext uri="{FF2B5EF4-FFF2-40B4-BE49-F238E27FC236}">
                <a16:creationId xmlns:a16="http://schemas.microsoft.com/office/drawing/2014/main" id="{A68EA884-C336-9C73-E936-3AB214EF2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35975" t="25767" r="35530" b="30744"/>
          <a:stretch>
            <a:fillRect/>
          </a:stretch>
        </p:blipFill>
        <p:spPr>
          <a:xfrm>
            <a:off x="4491057" y="703538"/>
            <a:ext cx="976093" cy="99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380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9650" y="1027823"/>
            <a:ext cx="8192700" cy="551820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6" name="Google Shape;186;p27"/>
          <p:cNvSpPr txBox="1"/>
          <p:nvPr/>
        </p:nvSpPr>
        <p:spPr>
          <a:xfrm>
            <a:off x="616425" y="200750"/>
            <a:ext cx="112269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Postavljanje</a:t>
            </a:r>
            <a:r>
              <a:rPr lang="en-US" sz="3633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r-HR" sz="3633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lokalnog email </a:t>
            </a:r>
            <a:r>
              <a:rPr lang="en-US" sz="3633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okruženja</a:t>
            </a:r>
            <a:r>
              <a:rPr lang="hr-HR" sz="3633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detaljne upute</a:t>
            </a:r>
            <a:endParaRPr sz="3633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/>
          <p:nvPr/>
        </p:nvSpPr>
        <p:spPr>
          <a:xfrm>
            <a:off x="585475" y="2094825"/>
            <a:ext cx="3910500" cy="40965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8"/>
          <p:cNvSpPr/>
          <p:nvPr/>
        </p:nvSpPr>
        <p:spPr>
          <a:xfrm>
            <a:off x="7253025" y="2094825"/>
            <a:ext cx="3910500" cy="4096500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584150" y="410625"/>
            <a:ext cx="112269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okruženje - skica arhitekture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/>
          <p:nvPr/>
        </p:nvSpPr>
        <p:spPr>
          <a:xfrm>
            <a:off x="893075" y="4331025"/>
            <a:ext cx="3128100" cy="170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Mail server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(Postfix)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/>
          <p:nvPr/>
        </p:nvSpPr>
        <p:spPr>
          <a:xfrm>
            <a:off x="893075" y="2259525"/>
            <a:ext cx="1897500" cy="1271100"/>
          </a:xfrm>
          <a:prstGeom prst="rect">
            <a:avLst/>
          </a:prstGeom>
          <a:solidFill>
            <a:srgbClr val="A2C4C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Lokalni DNS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(BIND9)</a:t>
            </a:r>
            <a:br>
              <a:rPr lang="en-US" sz="16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 b="1" i="1">
                <a:latin typeface="Calibri"/>
                <a:ea typeface="Calibri"/>
                <a:cs typeface="Calibri"/>
                <a:sym typeface="Calibri"/>
              </a:rPr>
              <a:t>kali-mail.lab</a:t>
            </a:r>
            <a:endParaRPr sz="1600" b="1"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585475" y="1581825"/>
            <a:ext cx="15474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kali-mail.lab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 txBox="1"/>
          <p:nvPr/>
        </p:nvSpPr>
        <p:spPr>
          <a:xfrm>
            <a:off x="7183875" y="1581825"/>
            <a:ext cx="18975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mail-server.lab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" name="Google Shape;199;p28"/>
          <p:cNvCxnSpPr/>
          <p:nvPr/>
        </p:nvCxnSpPr>
        <p:spPr>
          <a:xfrm rot="10800000">
            <a:off x="2540725" y="1241625"/>
            <a:ext cx="0" cy="8532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" name="Google Shape;200;p28"/>
          <p:cNvSpPr txBox="1"/>
          <p:nvPr/>
        </p:nvSpPr>
        <p:spPr>
          <a:xfrm>
            <a:off x="2632225" y="1370925"/>
            <a:ext cx="8325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1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NAT</a:t>
            </a:r>
            <a:endParaRPr sz="2133" b="1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9348375" y="1255425"/>
            <a:ext cx="8325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1">
                <a:solidFill>
                  <a:srgbClr val="FF9900"/>
                </a:solidFill>
                <a:latin typeface="Calibri"/>
                <a:ea typeface="Calibri"/>
                <a:cs typeface="Calibri"/>
                <a:sym typeface="Calibri"/>
              </a:rPr>
              <a:t>NAT</a:t>
            </a:r>
            <a:endParaRPr sz="2133" b="1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28"/>
          <p:cNvCxnSpPr/>
          <p:nvPr/>
        </p:nvCxnSpPr>
        <p:spPr>
          <a:xfrm rot="10800000">
            <a:off x="9293319" y="1241636"/>
            <a:ext cx="0" cy="853200"/>
          </a:xfrm>
          <a:prstGeom prst="straightConnector1">
            <a:avLst/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" name="Google Shape;203;p28"/>
          <p:cNvCxnSpPr>
            <a:stCxn id="193" idx="1"/>
            <a:endCxn id="192" idx="3"/>
          </p:cNvCxnSpPr>
          <p:nvPr/>
        </p:nvCxnSpPr>
        <p:spPr>
          <a:xfrm rot="10800000">
            <a:off x="4496025" y="4143075"/>
            <a:ext cx="2757000" cy="0"/>
          </a:xfrm>
          <a:prstGeom prst="straightConnector1">
            <a:avLst/>
          </a:prstGeom>
          <a:noFill/>
          <a:ln w="28575" cap="flat" cmpd="sng">
            <a:solidFill>
              <a:srgbClr val="6AA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" name="Google Shape;204;p28"/>
          <p:cNvSpPr txBox="1"/>
          <p:nvPr/>
        </p:nvSpPr>
        <p:spPr>
          <a:xfrm>
            <a:off x="4694150" y="3691575"/>
            <a:ext cx="2360700" cy="4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33" b="1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Internal network</a:t>
            </a:r>
            <a:endParaRPr sz="1733" b="1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28"/>
          <p:cNvCxnSpPr>
            <a:stCxn id="195" idx="3"/>
            <a:endCxn id="206" idx="1"/>
          </p:cNvCxnSpPr>
          <p:nvPr/>
        </p:nvCxnSpPr>
        <p:spPr>
          <a:xfrm rot="10800000" flipH="1">
            <a:off x="4021175" y="5178975"/>
            <a:ext cx="1478700" cy="3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6" name="Google Shape;20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9800" y="4804125"/>
            <a:ext cx="749400" cy="74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8"/>
          <p:cNvSpPr txBox="1"/>
          <p:nvPr/>
        </p:nvSpPr>
        <p:spPr>
          <a:xfrm>
            <a:off x="3175725" y="2471925"/>
            <a:ext cx="9207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3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SPF</a:t>
            </a:r>
            <a:endParaRPr sz="1433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3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DMARC</a:t>
            </a:r>
            <a:endParaRPr sz="1433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3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DKIM</a:t>
            </a:r>
            <a:endParaRPr sz="1433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2790575" y="2749125"/>
            <a:ext cx="309000" cy="291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A5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8"/>
          <p:cNvSpPr/>
          <p:nvPr/>
        </p:nvSpPr>
        <p:spPr>
          <a:xfrm>
            <a:off x="7606600" y="4326975"/>
            <a:ext cx="3128100" cy="17037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Mail server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(Postfix)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7606600" y="2255475"/>
            <a:ext cx="1897500" cy="1271100"/>
          </a:xfrm>
          <a:prstGeom prst="rect">
            <a:avLst/>
          </a:prstGeom>
          <a:solidFill>
            <a:srgbClr val="A2C4C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Lokalni DNS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(BIND9)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>
                <a:latin typeface="Calibri"/>
                <a:ea typeface="Calibri"/>
                <a:cs typeface="Calibri"/>
                <a:sym typeface="Calibri"/>
              </a:rPr>
              <a:t>mail-server.lab</a:t>
            </a:r>
            <a:endParaRPr sz="1600" b="1" i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8"/>
          <p:cNvSpPr txBox="1"/>
          <p:nvPr/>
        </p:nvSpPr>
        <p:spPr>
          <a:xfrm>
            <a:off x="9889250" y="2467875"/>
            <a:ext cx="920700" cy="8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3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SPF</a:t>
            </a:r>
            <a:endParaRPr sz="1433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3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DMARC</a:t>
            </a:r>
            <a:endParaRPr sz="1433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33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DKIM</a:t>
            </a:r>
            <a:endParaRPr sz="1433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9504100" y="2745075"/>
            <a:ext cx="309000" cy="291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76A5A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>
            <a:stCxn id="206" idx="3"/>
            <a:endCxn id="209" idx="1"/>
          </p:cNvCxnSpPr>
          <p:nvPr/>
        </p:nvCxnSpPr>
        <p:spPr>
          <a:xfrm>
            <a:off x="6249200" y="5178825"/>
            <a:ext cx="1357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/>
        </p:nvSpPr>
        <p:spPr>
          <a:xfrm>
            <a:off x="584150" y="410625"/>
            <a:ext cx="112269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Bind9 –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Lokalni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DNS server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9"/>
          <p:cNvPicPr preferRelativeResize="0"/>
          <p:nvPr/>
        </p:nvPicPr>
        <p:blipFill rotWithShape="1">
          <a:blip r:embed="rId3">
            <a:alphaModFix/>
          </a:blip>
          <a:srcRect r="33581"/>
          <a:stretch/>
        </p:blipFill>
        <p:spPr>
          <a:xfrm>
            <a:off x="1428800" y="1638424"/>
            <a:ext cx="10635775" cy="407691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9"/>
          <p:cNvSpPr/>
          <p:nvPr/>
        </p:nvSpPr>
        <p:spPr>
          <a:xfrm>
            <a:off x="1428813" y="4343450"/>
            <a:ext cx="10635900" cy="13719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292236" y="4103650"/>
            <a:ext cx="5826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SPF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9"/>
          <p:cNvSpPr txBox="1"/>
          <p:nvPr/>
        </p:nvSpPr>
        <p:spPr>
          <a:xfrm>
            <a:off x="240388" y="4673600"/>
            <a:ext cx="8319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DKIM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127288" y="5334475"/>
            <a:ext cx="10383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DMARC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29"/>
          <p:cNvCxnSpPr>
            <a:stCxn id="222" idx="3"/>
          </p:cNvCxnSpPr>
          <p:nvPr/>
        </p:nvCxnSpPr>
        <p:spPr>
          <a:xfrm>
            <a:off x="874836" y="4360150"/>
            <a:ext cx="531600" cy="999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6" name="Google Shape;226;p29"/>
          <p:cNvSpPr/>
          <p:nvPr/>
        </p:nvSpPr>
        <p:spPr>
          <a:xfrm>
            <a:off x="6040575" y="297622"/>
            <a:ext cx="1598292" cy="1108512"/>
          </a:xfrm>
          <a:prstGeom prst="clou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DNS</a:t>
            </a:r>
            <a:endParaRPr sz="2400" b="1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29"/>
          <p:cNvCxnSpPr>
            <a:stCxn id="223" idx="3"/>
            <a:endCxn id="221" idx="1"/>
          </p:cNvCxnSpPr>
          <p:nvPr/>
        </p:nvCxnSpPr>
        <p:spPr>
          <a:xfrm>
            <a:off x="1072288" y="4930100"/>
            <a:ext cx="356400" cy="99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228;p29"/>
          <p:cNvCxnSpPr>
            <a:stCxn id="224" idx="3"/>
          </p:cNvCxnSpPr>
          <p:nvPr/>
        </p:nvCxnSpPr>
        <p:spPr>
          <a:xfrm>
            <a:off x="1165588" y="5590975"/>
            <a:ext cx="251400" cy="52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/>
        </p:nvSpPr>
        <p:spPr>
          <a:xfrm>
            <a:off x="584150" y="410625"/>
            <a:ext cx="112269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ISPRAVNI MAIL </a:t>
            </a:r>
            <a:r>
              <a:rPr lang="en-US" sz="3600" b="1" dirty="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275" y="1160025"/>
            <a:ext cx="10636162" cy="53931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0"/>
          <p:cNvSpPr/>
          <p:nvPr/>
        </p:nvSpPr>
        <p:spPr>
          <a:xfrm>
            <a:off x="658275" y="3362125"/>
            <a:ext cx="5317800" cy="1526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658275" y="2156700"/>
            <a:ext cx="6531300" cy="19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0"/>
          <p:cNvSpPr/>
          <p:nvPr/>
        </p:nvSpPr>
        <p:spPr>
          <a:xfrm>
            <a:off x="658275" y="2746352"/>
            <a:ext cx="5161200" cy="19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0"/>
          <p:cNvSpPr/>
          <p:nvPr/>
        </p:nvSpPr>
        <p:spPr>
          <a:xfrm>
            <a:off x="1187375" y="2449523"/>
            <a:ext cx="822000" cy="1917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550" y="1476290"/>
            <a:ext cx="11226900" cy="278593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1"/>
          <p:cNvSpPr txBox="1"/>
          <p:nvPr/>
        </p:nvSpPr>
        <p:spPr>
          <a:xfrm>
            <a:off x="584150" y="410625"/>
            <a:ext cx="112269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SPOOFANI MAIL </a:t>
            </a:r>
            <a:r>
              <a:rPr lang="en-US" sz="3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fail</a:t>
            </a:r>
            <a:endParaRPr sz="3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482550" y="2083829"/>
            <a:ext cx="2385900" cy="17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1"/>
          <p:cNvSpPr/>
          <p:nvPr/>
        </p:nvSpPr>
        <p:spPr>
          <a:xfrm>
            <a:off x="2134845" y="1919573"/>
            <a:ext cx="1576500" cy="1752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/>
        </p:nvSpPr>
        <p:spPr>
          <a:xfrm>
            <a:off x="614875" y="410625"/>
            <a:ext cx="112269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DMARC p=reject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16" y="5140645"/>
            <a:ext cx="8304945" cy="893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5426" y="4911320"/>
            <a:ext cx="299085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7099" y="1453588"/>
            <a:ext cx="59912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7099" y="1901263"/>
            <a:ext cx="11887201" cy="47453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2"/>
          <p:cNvSpPr/>
          <p:nvPr/>
        </p:nvSpPr>
        <p:spPr>
          <a:xfrm>
            <a:off x="4990588" y="2049888"/>
            <a:ext cx="848400" cy="2952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80161" y="3441821"/>
            <a:ext cx="8696325" cy="4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/>
          <p:nvPr/>
        </p:nvSpPr>
        <p:spPr>
          <a:xfrm>
            <a:off x="614875" y="410625"/>
            <a:ext cx="112269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DMARC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Forenzički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report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0025"/>
            <a:ext cx="11887201" cy="47453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3"/>
          <p:cNvSpPr/>
          <p:nvPr/>
        </p:nvSpPr>
        <p:spPr>
          <a:xfrm>
            <a:off x="8573794" y="1274450"/>
            <a:ext cx="2846100" cy="354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500" y="3400428"/>
            <a:ext cx="6068828" cy="105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10500" y="2257400"/>
            <a:ext cx="8374239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0488" y="4486725"/>
            <a:ext cx="8610600" cy="65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0500" y="5178904"/>
            <a:ext cx="7200900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0500" y="5733329"/>
            <a:ext cx="10556798" cy="3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3"/>
          <p:cNvSpPr/>
          <p:nvPr/>
        </p:nvSpPr>
        <p:spPr>
          <a:xfrm>
            <a:off x="3330275" y="5382904"/>
            <a:ext cx="2155800" cy="2913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3"/>
          <p:cNvSpPr/>
          <p:nvPr/>
        </p:nvSpPr>
        <p:spPr>
          <a:xfrm>
            <a:off x="1010500" y="5706647"/>
            <a:ext cx="1871700" cy="2358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/>
        </p:nvSpPr>
        <p:spPr>
          <a:xfrm>
            <a:off x="614875" y="410625"/>
            <a:ext cx="112269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hr-H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mail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napadi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3325" y="825675"/>
            <a:ext cx="4339175" cy="236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7962" y="4111625"/>
            <a:ext cx="5225626" cy="195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675" y="1861725"/>
            <a:ext cx="4134775" cy="420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4"/>
          <p:cNvSpPr txBox="1"/>
          <p:nvPr/>
        </p:nvSpPr>
        <p:spPr>
          <a:xfrm>
            <a:off x="1616650" y="1348725"/>
            <a:ext cx="21234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Tampered mail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4"/>
          <p:cNvSpPr txBox="1"/>
          <p:nvPr/>
        </p:nvSpPr>
        <p:spPr>
          <a:xfrm>
            <a:off x="7281213" y="349450"/>
            <a:ext cx="21234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Legit mail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4"/>
          <p:cNvSpPr txBox="1"/>
          <p:nvPr/>
        </p:nvSpPr>
        <p:spPr>
          <a:xfrm>
            <a:off x="7372438" y="3598625"/>
            <a:ext cx="21234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Spoofed mail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/>
        </p:nvSpPr>
        <p:spPr>
          <a:xfrm>
            <a:off x="584150" y="410625"/>
            <a:ext cx="112269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Thunderbird – email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klijent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7700" y="1395550"/>
            <a:ext cx="3523175" cy="1908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295" name="Google Shape;295;p35"/>
          <p:cNvPicPr preferRelativeResize="0"/>
          <p:nvPr/>
        </p:nvPicPr>
        <p:blipFill rotWithShape="1">
          <a:blip r:embed="rId4">
            <a:alphaModFix/>
          </a:blip>
          <a:srcRect b="30449"/>
          <a:stretch/>
        </p:blipFill>
        <p:spPr>
          <a:xfrm>
            <a:off x="7370650" y="925475"/>
            <a:ext cx="2934625" cy="21198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296" name="Google Shape;296;p35"/>
          <p:cNvPicPr preferRelativeResize="0"/>
          <p:nvPr/>
        </p:nvPicPr>
        <p:blipFill rotWithShape="1">
          <a:blip r:embed="rId5">
            <a:alphaModFix/>
          </a:blip>
          <a:srcRect r="13971"/>
          <a:stretch/>
        </p:blipFill>
        <p:spPr>
          <a:xfrm>
            <a:off x="366185" y="4033587"/>
            <a:ext cx="11363029" cy="2310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297" name="Google Shape;297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47700" y="444175"/>
            <a:ext cx="682300" cy="68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35"/>
          <p:cNvSpPr txBox="1"/>
          <p:nvPr/>
        </p:nvSpPr>
        <p:spPr>
          <a:xfrm>
            <a:off x="7370650" y="3045350"/>
            <a:ext cx="460799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33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Dovecot (</a:t>
            </a:r>
            <a:r>
              <a:rPr lang="hr-HR" sz="2133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omogućuje </a:t>
            </a:r>
            <a:r>
              <a:rPr lang="en-US" sz="2133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IMAP </a:t>
            </a:r>
            <a:r>
              <a:rPr lang="en-US" sz="2133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2133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POP3)</a:t>
            </a:r>
            <a:endParaRPr sz="2133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6"/>
          <p:cNvSpPr txBox="1"/>
          <p:nvPr/>
        </p:nvSpPr>
        <p:spPr>
          <a:xfrm>
            <a:off x="584150" y="410625"/>
            <a:ext cx="112269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Thunderbird –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postavljanje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oznake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spam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mailova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5" name="Google Shape;305;p36"/>
          <p:cNvPicPr preferRelativeResize="0"/>
          <p:nvPr/>
        </p:nvPicPr>
        <p:blipFill rotWithShape="1">
          <a:blip r:embed="rId3">
            <a:alphaModFix/>
          </a:blip>
          <a:srcRect b="48702"/>
          <a:stretch/>
        </p:blipFill>
        <p:spPr>
          <a:xfrm>
            <a:off x="2553048" y="1160025"/>
            <a:ext cx="6264126" cy="225847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306" name="Google Shape;30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800" y="4224376"/>
            <a:ext cx="11887201" cy="22027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07" name="Google Shape;307;p36"/>
          <p:cNvSpPr/>
          <p:nvPr/>
        </p:nvSpPr>
        <p:spPr>
          <a:xfrm>
            <a:off x="6350000" y="5219925"/>
            <a:ext cx="5908800" cy="4035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36"/>
          <p:cNvPicPr preferRelativeResize="0"/>
          <p:nvPr/>
        </p:nvPicPr>
        <p:blipFill rotWithShape="1">
          <a:blip r:embed="rId3">
            <a:alphaModFix/>
          </a:blip>
          <a:srcRect t="60155" b="25564"/>
          <a:stretch/>
        </p:blipFill>
        <p:spPr>
          <a:xfrm>
            <a:off x="2553061" y="3409761"/>
            <a:ext cx="6264126" cy="62869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2" name="Slika 2">
            <a:extLst>
              <a:ext uri="{FF2B5EF4-FFF2-40B4-BE49-F238E27FC236}">
                <a16:creationId xmlns:a16="http://schemas.microsoft.com/office/drawing/2014/main" id="{71E975D0-8097-E48C-A5D4-ACEB040771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66959" t="23880" r="2053" b="32358"/>
          <a:stretch>
            <a:fillRect/>
          </a:stretch>
        </p:blipFill>
        <p:spPr>
          <a:xfrm>
            <a:off x="10520110" y="177630"/>
            <a:ext cx="1290940" cy="12153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B83E465D-C1F3-3DC4-4DAD-773CE6918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Milter</a:t>
            </a:r>
            <a:endParaRPr lang="hr-HR" sz="54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DC7A431-C3E2-71DA-2903-4CC73206E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457200" lvl="1" indent="-364045">
              <a:buClr>
                <a:schemeClr val="dk1"/>
              </a:buClr>
              <a:buSzPts val="2133"/>
              <a:buChar char="●"/>
            </a:pPr>
            <a:r>
              <a:rPr lang="hr-HR" sz="28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Ekstenzija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za Mail Transfer Agents (MTA)</a:t>
            </a:r>
          </a:p>
          <a:p>
            <a:pPr marL="457200" lvl="1" indent="-364045">
              <a:buClr>
                <a:schemeClr val="dk1"/>
              </a:buClr>
              <a:buSzPts val="2133"/>
              <a:buChar char="●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Mogu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služiti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za:</a:t>
            </a:r>
          </a:p>
          <a:p>
            <a:pPr marL="914400" lvl="1" indent="-347154">
              <a:buClr>
                <a:schemeClr val="dk1"/>
              </a:buClr>
              <a:buSzPts val="1867"/>
              <a:buChar char="○"/>
            </a:pPr>
            <a:r>
              <a:rPr lang="en-US" sz="2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filtriranje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mailova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914400" lvl="1" indent="-347154">
              <a:buClr>
                <a:schemeClr val="dk1"/>
              </a:buClr>
              <a:buSzPts val="1867"/>
              <a:buChar char="○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skeniranje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malwarea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914400" lvl="1" indent="-347154">
              <a:buClr>
                <a:schemeClr val="dk1"/>
              </a:buClr>
              <a:buSzPts val="1867"/>
              <a:buChar char="○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dodavanje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i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provjera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digitalnih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potpisa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457200" lvl="1" indent="-364045">
              <a:buClr>
                <a:schemeClr val="dk1"/>
              </a:buClr>
              <a:buSzPts val="2133"/>
              <a:buChar char="●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Poput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“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cijevi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” se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nadovezuje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na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ostale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protokole</a:t>
            </a:r>
            <a:endParaRPr lang="hr-HR" sz="28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93155" lvl="0" indent="0">
              <a:spcBef>
                <a:spcPts val="0"/>
              </a:spcBef>
              <a:buClr>
                <a:schemeClr val="dk1"/>
              </a:buClr>
              <a:buSzPts val="2133"/>
              <a:buNone/>
            </a:pPr>
            <a:endParaRPr lang="hr-HR" sz="2400" dirty="0">
              <a:solidFill>
                <a:schemeClr val="dk1"/>
              </a:solidFill>
            </a:endParaRPr>
          </a:p>
          <a:p>
            <a:pPr marL="457200" lvl="0" indent="-364045">
              <a:spcBef>
                <a:spcPts val="0"/>
              </a:spcBef>
              <a:buClr>
                <a:schemeClr val="dk1"/>
              </a:buClr>
              <a:buSzPts val="2133"/>
              <a:buChar char="●"/>
            </a:pPr>
            <a:endParaRPr lang="hr-HR" sz="2400" dirty="0"/>
          </a:p>
        </p:txBody>
      </p:sp>
    </p:spTree>
    <p:extLst>
      <p:ext uri="{BB962C8B-B14F-4D97-AF65-F5344CB8AC3E}">
        <p14:creationId xmlns:p14="http://schemas.microsoft.com/office/powerpoint/2010/main" val="2136173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778BDC66-BDCB-296C-32EB-DD56E106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3" y="600518"/>
            <a:ext cx="9849751" cy="1110295"/>
          </a:xfrm>
        </p:spPr>
        <p:txBody>
          <a:bodyPr anchor="b">
            <a:normAutofit/>
          </a:bodyPr>
          <a:lstStyle/>
          <a:p>
            <a:r>
              <a:rPr lang="en-US" sz="48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Vlastiti</a:t>
            </a:r>
            <a:r>
              <a:rPr lang="en-US" sz="4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Milter</a:t>
            </a:r>
            <a:endParaRPr lang="hr-HR" sz="4800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50EFE82-30EC-C766-EC3E-22FB38535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3" y="1363579"/>
            <a:ext cx="9849751" cy="5342993"/>
          </a:xfrm>
        </p:spPr>
        <p:txBody>
          <a:bodyPr anchor="ctr">
            <a:normAutofit/>
          </a:bodyPr>
          <a:lstStyle/>
          <a:p>
            <a:pPr marL="457200" lvl="1" indent="-364045">
              <a:buClr>
                <a:schemeClr val="dk1"/>
              </a:buClr>
              <a:buSzPts val="2133"/>
              <a:buFont typeface="Arial" panose="020B0604020202020204" pitchFamily="34" charset="0"/>
              <a:buChar char="●"/>
            </a:pPr>
            <a:r>
              <a:rPr lang="hr-HR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Služi za detekciju </a:t>
            </a:r>
            <a:r>
              <a:rPr lang="hr-HR" sz="2800" b="1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phising napada</a:t>
            </a:r>
          </a:p>
          <a:p>
            <a:pPr marL="457200" lvl="1" indent="-364045">
              <a:buClr>
                <a:schemeClr val="dk1"/>
              </a:buClr>
              <a:buSzPts val="2133"/>
              <a:buFont typeface="Arial" panose="020B0604020202020204" pitchFamily="34" charset="0"/>
              <a:buChar char="●"/>
            </a:pPr>
            <a:r>
              <a:rPr lang="hr-HR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N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udi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sljedeće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mogućnosti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prepoznavanja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:</a:t>
            </a:r>
          </a:p>
          <a:p>
            <a:pPr marL="914400" lvl="1" indent="-347154">
              <a:buClr>
                <a:schemeClr val="dk1"/>
              </a:buClr>
              <a:buSzPts val="1867"/>
              <a:buFont typeface="Arial" panose="020B0604020202020204" pitchFamily="34" charset="0"/>
              <a:buChar char="○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ključnih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riječi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914400" lvl="1" indent="-347154">
              <a:buClr>
                <a:schemeClr val="dk1"/>
              </a:buClr>
              <a:buSzPts val="1867"/>
              <a:buFont typeface="Arial" panose="020B0604020202020204" pitchFamily="34" charset="0"/>
              <a:buChar char="○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sumnjivih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linkova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914400" lvl="1" indent="-347154">
              <a:buClr>
                <a:schemeClr val="dk1"/>
              </a:buClr>
              <a:buSzPts val="1867"/>
              <a:buFont typeface="Arial" panose="020B0604020202020204" pitchFamily="34" charset="0"/>
              <a:buChar char="○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sumnjivih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IP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adresa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914400" lvl="1" indent="-347154">
              <a:buClr>
                <a:schemeClr val="dk1"/>
              </a:buClr>
              <a:buSzPts val="1867"/>
              <a:buFont typeface="Arial" panose="020B0604020202020204" pitchFamily="34" charset="0"/>
              <a:buChar char="○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base64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enkodiranja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914400" lvl="1" indent="-347154">
              <a:buClr>
                <a:schemeClr val="dk1"/>
              </a:buClr>
              <a:buSzPts val="1867"/>
              <a:buFont typeface="Arial" panose="020B0604020202020204" pitchFamily="34" charset="0"/>
              <a:buChar char="○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hex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enkodiranja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>
            <a:pPr marL="914400" lvl="1" indent="-347154">
              <a:buClr>
                <a:schemeClr val="dk1"/>
              </a:buClr>
              <a:buSzPts val="1867"/>
              <a:buFont typeface="Arial" panose="020B0604020202020204" pitchFamily="34" charset="0"/>
              <a:buChar char="○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HTML-a</a:t>
            </a:r>
          </a:p>
          <a:p>
            <a:pPr marL="914400" lvl="1" indent="-347154">
              <a:buClr>
                <a:schemeClr val="dk1"/>
              </a:buClr>
              <a:buSzPts val="1867"/>
              <a:buFont typeface="Arial" panose="020B0604020202020204" pitchFamily="34" charset="0"/>
              <a:buChar char="○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JS-a</a:t>
            </a:r>
          </a:p>
          <a:p>
            <a:pPr marL="914400" lvl="1" indent="-347154">
              <a:buClr>
                <a:schemeClr val="dk1"/>
              </a:buClr>
              <a:buSzPts val="1867"/>
              <a:buFont typeface="Arial" panose="020B0604020202020204" pitchFamily="34" charset="0"/>
              <a:buChar char="○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obfuskaciju</a:t>
            </a:r>
            <a:endParaRPr lang="hr-HR" sz="28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7237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39" title="base64-head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54550" cy="5310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9" title="base64-bod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673151"/>
            <a:ext cx="9035150" cy="7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9"/>
          <p:cNvSpPr txBox="1"/>
          <p:nvPr/>
        </p:nvSpPr>
        <p:spPr>
          <a:xfrm>
            <a:off x="9895125" y="5845625"/>
            <a:ext cx="23187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Base64 mail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9"/>
          <p:cNvSpPr/>
          <p:nvPr/>
        </p:nvSpPr>
        <p:spPr>
          <a:xfrm>
            <a:off x="174175" y="3820875"/>
            <a:ext cx="9405300" cy="1719900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0"/>
          <p:cNvSpPr txBox="1">
            <a:spLocks noGrp="1"/>
          </p:cNvSpPr>
          <p:nvPr>
            <p:ph type="ctrTitle"/>
          </p:nvPr>
        </p:nvSpPr>
        <p:spPr>
          <a:xfrm>
            <a:off x="457200" y="1420283"/>
            <a:ext cx="5181600" cy="980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40"/>
          <p:cNvSpPr txBox="1"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427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0" name="Google Shape;340;p40" title="html-head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25" y="103102"/>
            <a:ext cx="11114959" cy="491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0" title="html-bod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2127" y="3251100"/>
            <a:ext cx="5029872" cy="36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0"/>
          <p:cNvSpPr txBox="1"/>
          <p:nvPr/>
        </p:nvSpPr>
        <p:spPr>
          <a:xfrm>
            <a:off x="3864425" y="5736775"/>
            <a:ext cx="62703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mail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0"/>
          <p:cNvSpPr/>
          <p:nvPr/>
        </p:nvSpPr>
        <p:spPr>
          <a:xfrm>
            <a:off x="65325" y="3759300"/>
            <a:ext cx="7152000" cy="1273500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349;p41" title="obufsk-bod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638825"/>
            <a:ext cx="9318175" cy="6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1" title="obfusk-head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11902051" cy="53013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1"/>
          <p:cNvSpPr txBox="1"/>
          <p:nvPr/>
        </p:nvSpPr>
        <p:spPr>
          <a:xfrm>
            <a:off x="9797150" y="5845625"/>
            <a:ext cx="24165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Obfuskirani mail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1"/>
          <p:cNvSpPr/>
          <p:nvPr/>
        </p:nvSpPr>
        <p:spPr>
          <a:xfrm>
            <a:off x="185050" y="3984175"/>
            <a:ext cx="11767500" cy="1534800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2"/>
          <p:cNvSpPr txBox="1"/>
          <p:nvPr/>
        </p:nvSpPr>
        <p:spPr>
          <a:xfrm>
            <a:off x="584150" y="410625"/>
            <a:ext cx="112269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 DMARC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izvještaja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dmarcian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9" name="Google Shape;359;p42" title="dmarcian_report-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0013"/>
            <a:ext cx="11887197" cy="3994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43" title="dmarcian_report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8125"/>
            <a:ext cx="11887201" cy="3083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43" title="dmarcian_report-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179636"/>
            <a:ext cx="11887199" cy="2233604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3"/>
          <p:cNvSpPr txBox="1"/>
          <p:nvPr/>
        </p:nvSpPr>
        <p:spPr>
          <a:xfrm>
            <a:off x="584150" y="410625"/>
            <a:ext cx="112269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 DMARC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izvještaja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dmarcian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44" title="dmarcian_report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60350"/>
            <a:ext cx="11887200" cy="339439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4"/>
          <p:cNvSpPr txBox="1"/>
          <p:nvPr/>
        </p:nvSpPr>
        <p:spPr>
          <a:xfrm>
            <a:off x="584150" y="410625"/>
            <a:ext cx="112269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Analiza DMARC 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izvještaja</a:t>
            </a:r>
            <a:r>
              <a:rPr lang="en-US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hr-HR" sz="3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6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marcian</a:t>
            </a:r>
            <a:endParaRPr sz="3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4547586C-B387-8C7E-5E68-F28B0835E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hr-HR" sz="48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Zaključak</a:t>
            </a:r>
            <a:endParaRPr lang="hr-HR" sz="4800" dirty="0"/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77B13BCA-2B1E-BAE8-831F-E51854DCA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2364378"/>
            <a:ext cx="9941319" cy="3777802"/>
          </a:xfrm>
        </p:spPr>
        <p:txBody>
          <a:bodyPr anchor="ctr">
            <a:normAutofit/>
          </a:bodyPr>
          <a:lstStyle/>
          <a:p>
            <a:pPr marL="457200" lvl="1" indent="-364045">
              <a:buClr>
                <a:schemeClr val="dk1"/>
              </a:buClr>
              <a:buSzPts val="2133"/>
              <a:buFont typeface="Arial" panose="020B0604020202020204" pitchFamily="34" charset="0"/>
              <a:buChar char="●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Pravilno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konfiguriranje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E-mail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servera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danas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JAKO važno!</a:t>
            </a:r>
          </a:p>
          <a:p>
            <a:pPr marL="914400" lvl="1" indent="-364045">
              <a:buClr>
                <a:schemeClr val="dk1"/>
              </a:buClr>
              <a:buSzPts val="2133"/>
              <a:buFont typeface="Arial" panose="020B0604020202020204" pitchFamily="34" charset="0"/>
              <a:buChar char="○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Potrebno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razumijevanje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</a:p>
          <a:p>
            <a:pPr marL="1371600" lvl="1" indent="-364045">
              <a:buClr>
                <a:schemeClr val="dk1"/>
              </a:buClr>
              <a:buSzPts val="2133"/>
              <a:buFont typeface="Arial" panose="020B0604020202020204" pitchFamily="34" charset="0"/>
              <a:buChar char="■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</a:p>
          <a:p>
            <a:pPr marL="1371600" lvl="1" indent="-364045">
              <a:buClr>
                <a:schemeClr val="dk1"/>
              </a:buClr>
              <a:buSzPts val="2133"/>
              <a:buFont typeface="Arial" panose="020B0604020202020204" pitchFamily="34" charset="0"/>
              <a:buChar char="■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SPF, DKIM, DMARC</a:t>
            </a:r>
          </a:p>
          <a:p>
            <a:pPr marL="1371600" lvl="1" indent="-364045">
              <a:buClr>
                <a:schemeClr val="dk1"/>
              </a:buClr>
              <a:buSzPts val="2133"/>
              <a:buFont typeface="Arial" panose="020B0604020202020204" pitchFamily="34" charset="0"/>
              <a:buChar char="■"/>
            </a:pP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Phishing, Spoofing</a:t>
            </a:r>
          </a:p>
          <a:p>
            <a:pPr marL="457200" lvl="1" indent="-364045">
              <a:buClr>
                <a:schemeClr val="dk1"/>
              </a:buClr>
              <a:buSzPts val="2133"/>
              <a:buFont typeface="Arial" panose="020B0604020202020204" pitchFamily="34" charset="0"/>
              <a:buChar char="●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Mnogo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opcija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veća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mogućnost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pogrešne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konfiguracije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1" indent="-364045">
              <a:buClr>
                <a:schemeClr val="dk1"/>
              </a:buClr>
              <a:buSzPts val="2133"/>
              <a:buFont typeface="Arial" panose="020B0604020202020204" pitchFamily="34" charset="0"/>
              <a:buChar char="●"/>
            </a:pP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Preporučlijvo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prvo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testirati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kontroliranom</a:t>
            </a:r>
            <a:r>
              <a:rPr lang="en-US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okruženju</a:t>
            </a:r>
            <a:endParaRPr lang="en-US"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Slika 2">
            <a:extLst>
              <a:ext uri="{FF2B5EF4-FFF2-40B4-BE49-F238E27FC236}">
                <a16:creationId xmlns:a16="http://schemas.microsoft.com/office/drawing/2014/main" id="{7719AB71-6BF6-ED9B-153A-C975ED2EF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66959" t="23880" r="2053" b="32358"/>
          <a:stretch>
            <a:fillRect/>
          </a:stretch>
        </p:blipFill>
        <p:spPr>
          <a:xfrm>
            <a:off x="3674734" y="1055966"/>
            <a:ext cx="1025282" cy="96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034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A80C3E-67E5-29F4-5107-79A930A02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761BC6-9EA4-98AA-4F15-E9727D5EB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6440998-9F82-C0A0-C0ED-54E12C85A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F992897-36C9-12BE-D2F4-7E63F8CA90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CEE18A9-D523-0370-23C2-419F51165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C73853C3-C08F-FD07-1CBB-8B85D8F0F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A004DF-676D-1E36-E6B5-22CC73779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01FF6D74-3FF1-B5F3-B703-44404EF11CAA}"/>
              </a:ext>
            </a:extLst>
          </p:cNvPr>
          <p:cNvSpPr txBox="1"/>
          <p:nvPr/>
        </p:nvSpPr>
        <p:spPr>
          <a:xfrm>
            <a:off x="648391" y="232658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Literatura</a:t>
            </a:r>
            <a:endParaRPr lang="hr-HR" dirty="0"/>
          </a:p>
        </p:txBody>
      </p:sp>
      <p:sp>
        <p:nvSpPr>
          <p:cNvPr id="6" name="Rezervirano mjesto sadržaja 2">
            <a:extLst>
              <a:ext uri="{FF2B5EF4-FFF2-40B4-BE49-F238E27FC236}">
                <a16:creationId xmlns:a16="http://schemas.microsoft.com/office/drawing/2014/main" id="{3F27728A-1E19-DCA5-0F04-5A51CF547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8004" y="1353006"/>
            <a:ext cx="10358057" cy="5031165"/>
          </a:xfrm>
        </p:spPr>
        <p:txBody>
          <a:bodyPr anchor="ctr">
            <a:noAutofit/>
          </a:bodyPr>
          <a:lstStyle/>
          <a:p>
            <a:pPr lvl="0" indent="-15240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Crocker, D., Hansen, T., i </a:t>
            </a:r>
            <a:r>
              <a:rPr lang="en-US" sz="1600" dirty="0" err="1"/>
              <a:t>Kucherawy</a:t>
            </a:r>
            <a:r>
              <a:rPr lang="en-US" sz="1600" dirty="0"/>
              <a:t>, M. (Eds.). (2011). DomainKeys Identified Mail (DKIM) signatures (RFC 6376). Internet Engineering Task Force. https://www.rfc-editor.org/rfc/rfc6376 (DOI: https://doi.org/10.17487/RFC6376)</a:t>
            </a:r>
          </a:p>
          <a:p>
            <a:pPr lvl="0" indent="-15240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dmarcian. (bez dat.). Getting started with DMARC. dmarcian. https://dmarcian.com/getting-started-with-dmarc/</a:t>
            </a:r>
          </a:p>
          <a:p>
            <a:pPr lvl="0" indent="-15240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dmarcian. (2020). What is a DMARC record? dmarcian. </a:t>
            </a:r>
            <a:r>
              <a:rPr lang="en-US" sz="1600" dirty="0">
                <a:hlinkClick r:id="rId3"/>
              </a:rPr>
              <a:t>https://dmarcian.com/what-is-a-dmarc-record/</a:t>
            </a:r>
            <a:endParaRPr lang="hr-HR" sz="1600" dirty="0"/>
          </a:p>
          <a:p>
            <a:pPr lvl="0" indent="-15240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dmarcian. (bez dat.). Why DMARC? dmarcian. https://dmarcian.com/why-dmarc/</a:t>
            </a:r>
          </a:p>
          <a:p>
            <a:pPr lvl="0" indent="-15240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 err="1"/>
              <a:t>DuoCircle</a:t>
            </a:r>
            <a:r>
              <a:rPr lang="en-US" sz="1600" dirty="0"/>
              <a:t>. (bez dat.). SPF neutral and other types of SPF error messages you could encounter after setting SPF records for your domain. </a:t>
            </a:r>
            <a:r>
              <a:rPr lang="en-US" sz="1600" dirty="0" err="1"/>
              <a:t>DuoCircle</a:t>
            </a:r>
            <a:r>
              <a:rPr lang="en-US" sz="1600" dirty="0"/>
              <a:t>. https://www.duocircle.com/content/spf-permerror/spf-neutral</a:t>
            </a:r>
          </a:p>
          <a:p>
            <a:pPr lvl="0" indent="-15240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Fortinet. (bez dat.). DMARC. Fortinet. https://www.fortinet.com/resources/cyberglossary/dmarc</a:t>
            </a:r>
          </a:p>
          <a:p>
            <a:pPr lvl="0" indent="-15240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 err="1"/>
              <a:t>Görling</a:t>
            </a:r>
            <a:r>
              <a:rPr lang="en-US" sz="1600" dirty="0"/>
              <a:t>, S. (2007). An overview of the Sender Policy Framework (SPF) as an anti-</a:t>
            </a:r>
            <a:r>
              <a:rPr lang="en-US" sz="1600" dirty="0" err="1"/>
              <a:t>phising</a:t>
            </a:r>
            <a:r>
              <a:rPr lang="en-US" sz="1600" dirty="0"/>
              <a:t> mechanism. Internet Research, 17(2), 169–179. https://doi.org/10.1108/10662240710737022</a:t>
            </a:r>
          </a:p>
          <a:p>
            <a:pPr lvl="0" indent="-15240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hr-HR" sz="1600" dirty="0"/>
              <a:t>L</a:t>
            </a:r>
            <a:r>
              <a:rPr lang="en-US" sz="1600" dirty="0" err="1"/>
              <a:t>eiba</a:t>
            </a:r>
            <a:r>
              <a:rPr lang="en-US" sz="1600" dirty="0"/>
              <a:t>, B., i Fenton, J. (2007). DomainKeys Identified Mail (DKIM): Using digital signatures for domain verification. CEAS 2007. https://www.researchgate.net/publication/221650803_DomainKeys_Identified_Mail_DKIM_Using_Digital_Signatures_for_Domain_Verification</a:t>
            </a:r>
          </a:p>
          <a:p>
            <a:pPr lvl="0" indent="-15240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 err="1"/>
              <a:t>Loshin</a:t>
            </a:r>
            <a:r>
              <a:rPr lang="en-US" sz="1600" dirty="0"/>
              <a:t>, P. (2024). Email authentication: How SPF, DKIM and DMARC work together. TechTarget. https://www.techtarget.com/searchsecurity/answer/Email-authentication-How-SPF-DKIM-and-DMARC-work-together</a:t>
            </a:r>
          </a:p>
          <a:p>
            <a:pPr lvl="0" indent="-15240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Sethuraman, S. C., Devi Priya, V. S., Reddi, T., Mulka Sai Tharun Reddy, R., i Khan, M. K. (2024). A comprehensive examination of email spoofing: Issues and prospects for email security. Computers &amp; Security, 137, 103600. https://doi.org/10.1016/j.cose.2023.103600</a:t>
            </a:r>
          </a:p>
          <a:p>
            <a:pPr lvl="0" indent="-15240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WMD Hosting. (n.d.). Što je SPF </a:t>
            </a:r>
            <a:r>
              <a:rPr lang="en-US" sz="1600" dirty="0" err="1"/>
              <a:t>zapis</a:t>
            </a:r>
            <a:r>
              <a:rPr lang="en-US" sz="1600" dirty="0"/>
              <a:t>? WMD Hosting. https://wmd.hr/upute/%C5%A1to-je-spf-zapis</a:t>
            </a:r>
            <a:endParaRPr lang="en-US" sz="1400" dirty="0"/>
          </a:p>
        </p:txBody>
      </p:sp>
      <p:pic>
        <p:nvPicPr>
          <p:cNvPr id="2" name="Google Shape;388;p46" descr="Open book outline">
            <a:extLst>
              <a:ext uri="{FF2B5EF4-FFF2-40B4-BE49-F238E27FC236}">
                <a16:creationId xmlns:a16="http://schemas.microsoft.com/office/drawing/2014/main" id="{50CB3F51-B528-E9A8-CD93-195CFA3DBE2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40970" y="342416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17227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B2081C-15C1-FB0B-9EF8-851BA3B3A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DAB6E7-C8AA-CF0C-DED3-74A804A1B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7410D6-3012-EF88-1734-6F2CBE9D9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300" y="2385102"/>
            <a:ext cx="574091" cy="2087796"/>
            <a:chOff x="209668" y="2857422"/>
            <a:chExt cx="463662" cy="208779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B5E5B8-CCF6-EC0C-4729-2420627C2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423947" y="2857422"/>
              <a:ext cx="249383" cy="20877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A08D200-849E-2DA6-713C-F13865A747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209668" y="2857423"/>
              <a:ext cx="1" cy="208779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D8C89DDA-0026-C0E1-D4E8-1BA6C863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C3F881-D330-D5B4-9A34-666FEA95F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631767"/>
            <a:ext cx="11111729" cy="575240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kstniOkvir 4">
            <a:extLst>
              <a:ext uri="{FF2B5EF4-FFF2-40B4-BE49-F238E27FC236}">
                <a16:creationId xmlns:a16="http://schemas.microsoft.com/office/drawing/2014/main" id="{0EE617FD-D581-028C-CB1E-DDD8C3FB80AB}"/>
              </a:ext>
            </a:extLst>
          </p:cNvPr>
          <p:cNvSpPr txBox="1"/>
          <p:nvPr/>
        </p:nvSpPr>
        <p:spPr>
          <a:xfrm>
            <a:off x="648391" y="232658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Literatura</a:t>
            </a:r>
            <a:endParaRPr lang="hr-HR" dirty="0"/>
          </a:p>
        </p:txBody>
      </p:sp>
      <p:sp>
        <p:nvSpPr>
          <p:cNvPr id="6" name="Rezervirano mjesto sadržaja 2">
            <a:extLst>
              <a:ext uri="{FF2B5EF4-FFF2-40B4-BE49-F238E27FC236}">
                <a16:creationId xmlns:a16="http://schemas.microsoft.com/office/drawing/2014/main" id="{1E677434-08ED-662B-2459-BDDB121AC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1353006"/>
            <a:ext cx="9941319" cy="3572955"/>
          </a:xfrm>
        </p:spPr>
        <p:txBody>
          <a:bodyPr anchor="ctr">
            <a:normAutofit/>
          </a:bodyPr>
          <a:lstStyle/>
          <a:p>
            <a:pPr marL="76200" indent="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https://www.linkedin.com/pulse/how-build-your-own-email-server-ubuntu-part-4-liviu-gelca-gda0e</a:t>
            </a:r>
          </a:p>
          <a:p>
            <a:pPr marL="76200" indent="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https://askubuntu.com/questions/965343/enabling-and-disabling-network-card-through-commandline</a:t>
            </a:r>
          </a:p>
          <a:p>
            <a:pPr marL="76200" indent="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https://serverfault.com/questions/1021262/whats-the-right-way-to-enter-dkim-string-into-bind-zone-file</a:t>
            </a:r>
          </a:p>
          <a:p>
            <a:pPr marL="76200" indent="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https://stackoverflow.com/questions/43720476/setting-up-dkim-setup-dns-zone-syntax-error-on-bind-in-ubuntu</a:t>
            </a:r>
          </a:p>
          <a:p>
            <a:pPr marL="76200" indent="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https://support.dnsimple.com/articles/txt-record-format/</a:t>
            </a:r>
          </a:p>
          <a:p>
            <a:pPr marL="76200" indent="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https://blog.matrixpost.net/set-up-dmarc-for-postfix-on-ubuntu/</a:t>
            </a:r>
          </a:p>
          <a:p>
            <a:pPr marL="76200" indent="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https://www.linuxbabe.com/mail-server/create-dmarc-record</a:t>
            </a:r>
          </a:p>
          <a:p>
            <a:pPr marL="76200" indent="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https://www.server-world.info/en/note?os=CentOS_Stream_9&amp;p=dns&amp;f=10</a:t>
            </a:r>
          </a:p>
          <a:p>
            <a:pPr marL="76200" indent="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https://dovecot.org/</a:t>
            </a:r>
          </a:p>
          <a:p>
            <a:pPr marL="76200" indent="0">
              <a:lnSpc>
                <a:spcPct val="70000"/>
              </a:lnSpc>
              <a:buClr>
                <a:schemeClr val="dk1"/>
              </a:buClr>
              <a:buSzPts val="688"/>
              <a:buNone/>
            </a:pPr>
            <a:r>
              <a:rPr lang="en-US" sz="1600" dirty="0"/>
              <a:t>https://www.thunderbird.net/en-US/</a:t>
            </a:r>
            <a:endParaRPr lang="en-US" sz="1400" dirty="0"/>
          </a:p>
        </p:txBody>
      </p:sp>
      <p:pic>
        <p:nvPicPr>
          <p:cNvPr id="2" name="Google Shape;388;p46" descr="Open book outline">
            <a:extLst>
              <a:ext uri="{FF2B5EF4-FFF2-40B4-BE49-F238E27FC236}">
                <a16:creationId xmlns:a16="http://schemas.microsoft.com/office/drawing/2014/main" id="{D7B7FFEF-0D51-7250-6F36-527A69C73B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0970" y="342416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159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7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7"/>
          <p:cNvSpPr/>
          <p:nvPr/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7"/>
          <p:cNvSpPr/>
          <p:nvPr/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dist="127000" dir="5400000" algn="t" rotWithShape="0">
              <a:srgbClr val="000000">
                <a:alpha val="1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47"/>
          <p:cNvSpPr txBox="1">
            <a:spLocks noGrp="1"/>
          </p:cNvSpPr>
          <p:nvPr>
            <p:ph type="title"/>
          </p:nvPr>
        </p:nvSpPr>
        <p:spPr>
          <a:xfrm>
            <a:off x="1524000" y="124858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"/>
              <a:buNone/>
            </a:pPr>
            <a:r>
              <a:rPr lang="en-US" sz="6400" dirty="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HVALA NA PAŽNJI!</a:t>
            </a:r>
            <a:endParaRPr dirty="0"/>
          </a:p>
        </p:txBody>
      </p:sp>
      <p:cxnSp>
        <p:nvCxnSpPr>
          <p:cNvPr id="397" name="Google Shape;397;p47"/>
          <p:cNvCxnSpPr/>
          <p:nvPr/>
        </p:nvCxnSpPr>
        <p:spPr>
          <a:xfrm rot="10800000">
            <a:off x="596464" y="6329769"/>
            <a:ext cx="11000232" cy="0"/>
          </a:xfrm>
          <a:prstGeom prst="straightConnector1">
            <a:avLst/>
          </a:prstGeom>
          <a:noFill/>
          <a:ln w="1524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ka 1">
            <a:extLst>
              <a:ext uri="{FF2B5EF4-FFF2-40B4-BE49-F238E27FC236}">
                <a16:creationId xmlns:a16="http://schemas.microsoft.com/office/drawing/2014/main" id="{7FCAB554-64C1-734D-1D44-928134C09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35975" t="25767" r="35530" b="30744"/>
          <a:stretch>
            <a:fillRect/>
          </a:stretch>
        </p:blipFill>
        <p:spPr>
          <a:xfrm>
            <a:off x="1346406" y="2293117"/>
            <a:ext cx="1258376" cy="1280301"/>
          </a:xfrm>
          <a:prstGeom prst="rect">
            <a:avLst/>
          </a:prstGeom>
        </p:spPr>
      </p:pic>
      <p:pic>
        <p:nvPicPr>
          <p:cNvPr id="5" name="Slika 2">
            <a:extLst>
              <a:ext uri="{FF2B5EF4-FFF2-40B4-BE49-F238E27FC236}">
                <a16:creationId xmlns:a16="http://schemas.microsoft.com/office/drawing/2014/main" id="{9A5045BE-DA42-3FD2-E9F2-30249598C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 l="66959" t="23880" r="2053" b="32358"/>
          <a:stretch>
            <a:fillRect/>
          </a:stretch>
        </p:blipFill>
        <p:spPr>
          <a:xfrm>
            <a:off x="5450530" y="2293117"/>
            <a:ext cx="1290940" cy="1215390"/>
          </a:xfrm>
          <a:prstGeom prst="rect">
            <a:avLst/>
          </a:prstGeom>
        </p:spPr>
      </p:pic>
      <p:pic>
        <p:nvPicPr>
          <p:cNvPr id="6" name="Slika 3">
            <a:extLst>
              <a:ext uri="{FF2B5EF4-FFF2-40B4-BE49-F238E27FC236}">
                <a16:creationId xmlns:a16="http://schemas.microsoft.com/office/drawing/2014/main" id="{1684B680-5AB7-1371-0CED-48DB91FF5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t="13131" b="20638"/>
          <a:stretch>
            <a:fillRect/>
          </a:stretch>
        </p:blipFill>
        <p:spPr>
          <a:xfrm>
            <a:off x="9039023" y="2293117"/>
            <a:ext cx="1318979" cy="1310355"/>
          </a:xfrm>
          <a:prstGeom prst="rect">
            <a:avLst/>
          </a:prstGeom>
          <a:ln>
            <a:noFill/>
          </a:ln>
          <a:scene3d>
            <a:camera prst="obliqueBottomLeft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72606145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839</Words>
  <Application>Microsoft Office PowerPoint</Application>
  <PresentationFormat>Widescreen</PresentationFormat>
  <Paragraphs>125</Paragraphs>
  <Slides>25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 Display</vt:lpstr>
      <vt:lpstr>Calibri</vt:lpstr>
      <vt:lpstr>Arial</vt:lpstr>
      <vt:lpstr>Play</vt:lpstr>
      <vt:lpstr>Aptos</vt:lpstr>
      <vt:lpstr>1_Office Theme</vt:lpstr>
      <vt:lpstr>office theme</vt:lpstr>
      <vt:lpstr>Tema sustava Office</vt:lpstr>
      <vt:lpstr>PowerPoint Presentation</vt:lpstr>
      <vt:lpstr>Praktičan dio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Milter</vt:lpstr>
      <vt:lpstr>Vlastiti Milter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Zaključak</vt:lpstr>
      <vt:lpstr>PowerPoint Presentation</vt:lpstr>
      <vt:lpstr>PowerPoint Presentation</vt:lpstr>
      <vt:lpstr>HVALA NA PAŽNJI!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Filip Novak</cp:lastModifiedBy>
  <cp:revision>29</cp:revision>
  <dcterms:modified xsi:type="dcterms:W3CDTF">2026-01-13T10:33:28Z</dcterms:modified>
</cp:coreProperties>
</file>